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371600"/>
            <a:ext cx="6400800" cy="6400800"/>
          </a:xfrm>
          <a:prstGeom prst="ellipse">
            <a:avLst/>
          </a:prstGeom>
          <a:solidFill>
            <a:srgbClr val="13265C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-365760"/>
            <a:ext cx="4206240" cy="4206240"/>
          </a:xfrm>
          <a:prstGeom prst="ellipse">
            <a:avLst/>
          </a:prstGeom>
          <a:solidFill>
            <a:srgbClr val="1B3A7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188720" cy="1188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" y="8229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932688"/>
            <a:ext cx="329184" cy="329184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417320"/>
            <a:ext cx="502920" cy="5029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86000" y="6400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</a:t>
            </a:r>
            <a:pPr indent="0" marL="0">
              <a:buNone/>
            </a:pPr>
            <a:r>
              <a:rPr lang="en-US" sz="44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</a:t>
            </a:r>
            <a:endParaRPr lang="en-US" sz="4400" dirty="0"/>
          </a:p>
        </p:txBody>
      </p:sp>
      <p:sp>
        <p:nvSpPr>
          <p:cNvPr id="9" name="Text 4"/>
          <p:cNvSpPr/>
          <p:nvPr/>
        </p:nvSpPr>
        <p:spPr>
          <a:xfrm>
            <a:off x="2331720" y="1417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Medical Trust with Bitcoin</a:t>
            </a:r>
            <a:endParaRPr lang="en-US" sz="2000" dirty="0"/>
          </a:p>
        </p:txBody>
      </p:sp>
      <p:sp>
        <p:nvSpPr>
          <p:cNvPr id="10" name="Text 5"/>
          <p:cNvSpPr/>
          <p:nvPr/>
        </p:nvSpPr>
        <p:spPr>
          <a:xfrm>
            <a:off x="548640" y="32918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dossiers médicaux vérifiables.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confiance garantie par Bitcoin.</a:t>
            </a:r>
            <a:endParaRPr lang="en-US" sz="1800" dirty="0"/>
          </a:p>
        </p:txBody>
      </p:sp>
      <p:sp>
        <p:nvSpPr>
          <p:cNvPr id="11" name="Shape 6"/>
          <p:cNvSpPr/>
          <p:nvPr/>
        </p:nvSpPr>
        <p:spPr>
          <a:xfrm>
            <a:off x="548640" y="4572000"/>
            <a:ext cx="411480" cy="411480"/>
          </a:xfrm>
          <a:prstGeom prst="rect">
            <a:avLst/>
          </a:prstGeom>
          <a:solidFill>
            <a:srgbClr val="13265C"/>
          </a:solidFill>
          <a:ln w="12700">
            <a:solidFill>
              <a:srgbClr val="F7931A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4645152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51560" y="4572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Mastermind 2026 Hackathon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54864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de présentation du projet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0B1A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dossiers médicaux ne sont pas toujours fiables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411480" cy="411480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783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de modification ou de falsification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749040" y="1828800"/>
            <a:ext cx="411480" cy="411480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92024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51960" y="1783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 contrôle pour les patients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57200" y="2606040"/>
            <a:ext cx="411480" cy="411480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9748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2560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Manque de traçabilité et d'audit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3749040" y="2606040"/>
            <a:ext cx="411480" cy="411480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2697480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251960" y="2560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de confiance entre les acteurs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457200" y="3383280"/>
            <a:ext cx="411480" cy="411480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474720"/>
            <a:ext cx="228600" cy="2286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60120" y="3337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 à prouver l'authenticité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7863840" y="914400"/>
            <a:ext cx="3840480" cy="5120640"/>
          </a:xfrm>
          <a:prstGeom prst="roundRect">
            <a:avLst>
              <a:gd name="adj" fmla="val 190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0" y="1463040"/>
            <a:ext cx="1645920" cy="164592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 rot="-480000">
            <a:off x="8229600" y="3383280"/>
            <a:ext cx="3108960" cy="640080"/>
          </a:xfrm>
          <a:prstGeom prst="roundRect">
            <a:avLst>
              <a:gd name="adj" fmla="val 11429"/>
            </a:avLst>
          </a:prstGeom>
          <a:solidFill>
            <a:srgbClr val="FCE8E6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 rot="-480000">
            <a:off x="8229600" y="3383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MODIFIÉ</a:t>
            </a:r>
            <a:endParaRPr lang="en-US" sz="20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2720" y="4297680"/>
            <a:ext cx="822960" cy="822960"/>
          </a:xfrm>
          <a:prstGeom prst="rect">
            <a:avLst/>
          </a:prstGeom>
        </p:spPr>
      </p:pic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8160" y="4434840"/>
            <a:ext cx="640080" cy="64008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457200" y="5806440"/>
            <a:ext cx="6675120" cy="594360"/>
          </a:xfrm>
          <a:prstGeom prst="roundRect">
            <a:avLst>
              <a:gd name="adj" fmla="val 12308"/>
            </a:avLst>
          </a:prstGeom>
          <a:solidFill>
            <a:srgbClr val="0B1A3A"/>
          </a:solidFill>
          <a:ln/>
        </p:spPr>
      </p:sp>
      <p:sp>
        <p:nvSpPr>
          <p:cNvPr id="28" name="Text 18"/>
          <p:cNvSpPr/>
          <p:nvPr/>
        </p:nvSpPr>
        <p:spPr>
          <a:xfrm>
            <a:off x="594360" y="5806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garantir l'intégrité d'un dossier médical et prouver qu'il n'a jamais été modifié ?</a:t>
            </a:r>
            <a:endParaRPr lang="en-US" sz="1250" dirty="0"/>
          </a:p>
        </p:txBody>
      </p:sp>
      <p:sp>
        <p:nvSpPr>
          <p:cNvPr id="29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MediProof — Bitcoin Mastermind 2026 Hackathon</a:t>
            </a:r>
            <a:endParaRPr lang="en-US" sz="900" dirty="0"/>
          </a:p>
        </p:txBody>
      </p:sp>
      <p:sp>
        <p:nvSpPr>
          <p:cNvPr id="30" name="Text 2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0B1A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SOLUTION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MEDIPROOF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5760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qui ajoute une couche de confiance grâce à la blockchain Bitcoin.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modification importante du dossier médical est transformée en empreinte cryptographique et ancrée sur Bitcoin.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médicales restent privées, seule la preuve d'intégrité est publique.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098280" y="1234440"/>
            <a:ext cx="1828800" cy="822960"/>
          </a:xfrm>
          <a:prstGeom prst="line">
            <a:avLst/>
          </a:prstGeom>
          <a:noFill/>
          <a:ln w="15875">
            <a:solidFill>
              <a:srgbClr val="C7D2E8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0927080" y="2057400"/>
            <a:ext cx="9144" cy="1463040"/>
          </a:xfrm>
          <a:prstGeom prst="line">
            <a:avLst/>
          </a:prstGeom>
          <a:noFill/>
          <a:ln w="15875">
            <a:solidFill>
              <a:srgbClr val="C7D2E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9098280" y="3520440"/>
            <a:ext cx="1828800" cy="822960"/>
          </a:xfrm>
          <a:prstGeom prst="line">
            <a:avLst/>
          </a:prstGeom>
          <a:noFill/>
          <a:ln w="15875">
            <a:solidFill>
              <a:srgbClr val="C7D2E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 flipV="1">
            <a:off x="7360920" y="3520440"/>
            <a:ext cx="1737360" cy="822960"/>
          </a:xfrm>
          <a:prstGeom prst="line">
            <a:avLst/>
          </a:prstGeom>
          <a:noFill/>
          <a:ln w="15875">
            <a:solidFill>
              <a:srgbClr val="C7D2E8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7360920" y="2057400"/>
            <a:ext cx="9144" cy="1463040"/>
          </a:xfrm>
          <a:prstGeom prst="line">
            <a:avLst/>
          </a:prstGeom>
          <a:noFill/>
          <a:ln w="15875">
            <a:solidFill>
              <a:srgbClr val="C7D2E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 flipV="1">
            <a:off x="7360920" y="1234440"/>
            <a:ext cx="1737360" cy="822960"/>
          </a:xfrm>
          <a:prstGeom prst="line">
            <a:avLst/>
          </a:prstGeom>
          <a:noFill/>
          <a:ln w="15875">
            <a:solidFill>
              <a:srgbClr val="C7D2E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8778240" y="914400"/>
            <a:ext cx="640080" cy="640080"/>
          </a:xfrm>
          <a:prstGeom prst="ellipse">
            <a:avLst/>
          </a:prstGeom>
          <a:solidFill>
            <a:srgbClr val="F4F6FB"/>
          </a:solidFill>
          <a:ln w="15875">
            <a:solidFill>
              <a:srgbClr val="0B1A3A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1051560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366760" y="15727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PROFESSIONNEL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SANTÉ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0607040" y="1737360"/>
            <a:ext cx="640080" cy="640080"/>
          </a:xfrm>
          <a:prstGeom prst="ellipse">
            <a:avLst/>
          </a:prstGeom>
          <a:solidFill>
            <a:srgbClr val="F4F6FB"/>
          </a:solidFill>
          <a:ln w="15875">
            <a:solidFill>
              <a:srgbClr val="0B1A3A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87452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195560" y="23957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MÉDICAL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10607040" y="3200400"/>
            <a:ext cx="640080" cy="640080"/>
          </a:xfrm>
          <a:prstGeom prst="ellipse">
            <a:avLst/>
          </a:prstGeom>
          <a:solidFill>
            <a:srgbClr val="F4F6FB"/>
          </a:solidFill>
          <a:ln w="15875">
            <a:solidFill>
              <a:srgbClr val="0B1A3A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333756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195560" y="38587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EMPREINTE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(SHA-256)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8778240" y="4023360"/>
            <a:ext cx="640080" cy="640080"/>
          </a:xfrm>
          <a:prstGeom prst="ellipse">
            <a:avLst/>
          </a:prstGeom>
          <a:solidFill>
            <a:srgbClr val="F4F6FB"/>
          </a:solidFill>
          <a:ln w="15875">
            <a:solidFill>
              <a:srgbClr val="F7931A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416052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366760" y="46817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7040880" y="3200400"/>
            <a:ext cx="640080" cy="640080"/>
          </a:xfrm>
          <a:prstGeom prst="ellipse">
            <a:avLst/>
          </a:prstGeom>
          <a:solidFill>
            <a:srgbClr val="F4F6FB"/>
          </a:solidFill>
          <a:ln w="15875">
            <a:solidFill>
              <a:srgbClr val="0B1A3A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333756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629400" y="38587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7040880" y="1737360"/>
            <a:ext cx="640080" cy="640080"/>
          </a:xfrm>
          <a:prstGeom prst="ellipse">
            <a:avLst/>
          </a:prstGeom>
          <a:solidFill>
            <a:srgbClr val="F4F6FB"/>
          </a:solidFill>
          <a:ln w="15875">
            <a:solidFill>
              <a:srgbClr val="0B1A3A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0" y="1874520"/>
            <a:ext cx="365760" cy="36576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629400" y="23957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solidFill>
            <a:srgbClr val="0B1A3A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6053328"/>
            <a:ext cx="274320" cy="27432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960120" y="5943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INTÉGRITÉ</a:t>
            </a:r>
            <a:endParaRPr lang="en-US" sz="115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0" y="6053328"/>
            <a:ext cx="274320" cy="27432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3749040" y="5943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TRANSPARENCE</a:t>
            </a:r>
            <a:endParaRPr lang="en-US" sz="115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7920" y="6053328"/>
            <a:ext cx="274320" cy="27432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6537960" y="5943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CONFIDENTIALITÉ</a:t>
            </a:r>
            <a:endParaRPr lang="en-US" sz="1150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06840" y="6053328"/>
            <a:ext cx="274320" cy="27432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9326880" y="5943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</a:t>
            </a:r>
            <a:endParaRPr lang="en-US" sz="1150" dirty="0"/>
          </a:p>
        </p:txBody>
      </p:sp>
      <p:sp>
        <p:nvSpPr>
          <p:cNvPr id="40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MediProof — Bitcoin Mastermind 2026 Hackathon</a:t>
            </a:r>
            <a:endParaRPr lang="en-US" sz="900" dirty="0"/>
          </a:p>
        </p:txBody>
      </p:sp>
      <p:sp>
        <p:nvSpPr>
          <p:cNvPr id="41" name="Text 2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0B1A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BITCOIN 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Bitcoin 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697480" cy="3017520"/>
          </a:xfrm>
          <a:prstGeom prst="roundRect">
            <a:avLst>
              <a:gd name="adj" fmla="val 2712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9659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08483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2606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MAXIMALE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58368" y="306324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réseau le plus sécurisé au monde, éprouvé depuis plus de 15 ans.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19272" y="1737360"/>
            <a:ext cx="2697480" cy="3017520"/>
          </a:xfrm>
          <a:prstGeom prst="roundRect">
            <a:avLst>
              <a:gd name="adj" fmla="val 2712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47872" y="19659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44" y="208483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0440" y="2606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DÉCENTRALISATION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520440" y="306324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autorité centrale ne peut modifier ou supprimer les preuves.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81344" y="1737360"/>
            <a:ext cx="2697480" cy="3017520"/>
          </a:xfrm>
          <a:prstGeom prst="roundRect">
            <a:avLst>
              <a:gd name="adj" fmla="val 2712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9944" y="19659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208483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82512" y="2606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IMMUTABILITÉ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382512" y="306324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fois la preuve enregistrée, elle est impossible à altérer.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9043416" y="1737360"/>
            <a:ext cx="2697480" cy="3017520"/>
          </a:xfrm>
          <a:prstGeom prst="roundRect">
            <a:avLst>
              <a:gd name="adj" fmla="val 2712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272016" y="19659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888" y="2084832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44584" y="2606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TRANSPARENCE VÉRIFIABLE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9244584" y="306324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N'importe qui peut vérifier l'existence d'une preuve sans accéder aux données.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57200" y="502920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E7F6F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285232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188720" y="502920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n'enregistrons jamais les données médicales sur Bitcoin, mais uniquement leur empreinte cryptographique.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MediProof — Bitcoin Mastermind 2026 Hackathon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0B1A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FONCTIONNE MEDIPROOF 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fonctionne MediProof 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68680" y="2697480"/>
            <a:ext cx="10424160" cy="0"/>
          </a:xfrm>
          <a:prstGeom prst="line">
            <a:avLst/>
          </a:prstGeom>
          <a:noFill/>
          <a:ln w="25400">
            <a:solidFill>
              <a:srgbClr val="C7D2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377440"/>
            <a:ext cx="640080" cy="640080"/>
          </a:xfrm>
          <a:prstGeom prst="ellipse">
            <a:avLst/>
          </a:prstGeom>
          <a:solidFill>
            <a:srgbClr val="0B1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542032"/>
            <a:ext cx="310896" cy="31089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87552" y="2267712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B1A3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2267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37160" y="315468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/ Mise à jour du dossier médical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633472" y="2377440"/>
            <a:ext cx="640080" cy="640080"/>
          </a:xfrm>
          <a:prstGeom prst="ellipse">
            <a:avLst/>
          </a:prstGeom>
          <a:solidFill>
            <a:srgbClr val="0B1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064" y="2542032"/>
            <a:ext cx="310896" cy="31089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072384" y="2267712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B1A3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72384" y="2267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221992" y="315468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de l'empreinte SHA-256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718304" y="2377440"/>
            <a:ext cx="640080" cy="640080"/>
          </a:xfrm>
          <a:prstGeom prst="ellipse">
            <a:avLst/>
          </a:prstGeom>
          <a:solidFill>
            <a:srgbClr val="F7931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896" y="2542032"/>
            <a:ext cx="310896" cy="31089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157216" y="2267712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B1A3A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157216" y="2267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306824" y="315468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Ancrage de l'empreinte sur Bitcoin (OP_RETURN)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803136" y="2377440"/>
            <a:ext cx="640080" cy="640080"/>
          </a:xfrm>
          <a:prstGeom prst="ellipse">
            <a:avLst/>
          </a:prstGeom>
          <a:solidFill>
            <a:srgbClr val="0B1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2542032"/>
            <a:ext cx="310896" cy="310896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7242048" y="2267712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B1A3A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242048" y="2267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6391656" y="315468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d'un QR Code de vérification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8887968" y="2377440"/>
            <a:ext cx="640080" cy="640080"/>
          </a:xfrm>
          <a:prstGeom prst="ellipse">
            <a:avLst/>
          </a:prstGeom>
          <a:solidFill>
            <a:srgbClr val="0B1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2542032"/>
            <a:ext cx="310896" cy="310896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9326880" y="2267712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B1A3A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9326880" y="2267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8476488" y="315468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sécurisé des données en base privée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10972800" y="2377440"/>
            <a:ext cx="640080" cy="640080"/>
          </a:xfrm>
          <a:prstGeom prst="ellipse">
            <a:avLst/>
          </a:prstGeom>
          <a:solidFill>
            <a:srgbClr val="0B1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37392" y="2542032"/>
            <a:ext cx="310896" cy="310896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11411712" y="2267712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B1A3A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11411712" y="2267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10561320" y="315468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à tout moment par le patient ou un tiers autorisé</a:t>
            </a:r>
            <a:endParaRPr lang="en-US" sz="1050" dirty="0"/>
          </a:p>
        </p:txBody>
      </p:sp>
      <p:sp>
        <p:nvSpPr>
          <p:cNvPr id="37" name="Shape 29"/>
          <p:cNvSpPr/>
          <p:nvPr/>
        </p:nvSpPr>
        <p:spPr>
          <a:xfrm>
            <a:off x="457200" y="5806440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0B1A3A"/>
          </a:solidFill>
          <a:ln/>
        </p:spPr>
      </p:sp>
      <p:sp>
        <p:nvSpPr>
          <p:cNvPr id="38" name="Text 30"/>
          <p:cNvSpPr/>
          <p:nvPr/>
        </p:nvSpPr>
        <p:spPr>
          <a:xfrm>
            <a:off x="594360" y="58064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modification non autorisée change l'empreinte et la vérification échoue.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MediProof — Bitcoin Mastermind 2026 Hackathon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0B1A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parcours simple et sécurisé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0B1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286000"/>
            <a:ext cx="411480" cy="411480"/>
          </a:xfrm>
          <a:prstGeom prst="ellipse">
            <a:avLst/>
          </a:prstGeom>
          <a:solidFill>
            <a:srgbClr val="F7931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2926080"/>
            <a:ext cx="178308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180" y="3474720"/>
            <a:ext cx="640080" cy="6400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21792" y="480060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professionnel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d'une consultation</a:t>
            </a:r>
            <a:endParaRPr lang="en-US" sz="10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528" y="3639312"/>
            <a:ext cx="219456" cy="21945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291840" y="21031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0B1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474720" y="2286000"/>
            <a:ext cx="411480" cy="411480"/>
          </a:xfrm>
          <a:prstGeom prst="ellipse">
            <a:avLst/>
          </a:prstGeom>
          <a:solidFill>
            <a:srgbClr val="F7931A"/>
          </a:solidFill>
          <a:ln/>
        </p:spPr>
      </p:sp>
      <p:sp>
        <p:nvSpPr>
          <p:cNvPr id="16" name="Text 12"/>
          <p:cNvSpPr/>
          <p:nvPr/>
        </p:nvSpPr>
        <p:spPr>
          <a:xfrm>
            <a:off x="347472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3703320" y="2926080"/>
            <a:ext cx="178308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4820" y="347472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56432" y="480060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automatique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Ancrage sur Bitcoin</a:t>
            </a:r>
            <a:endParaRPr lang="en-US" sz="10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168" y="3639312"/>
            <a:ext cx="219456" cy="219456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126480" y="21031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0B1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309360" y="2286000"/>
            <a:ext cx="411480" cy="411480"/>
          </a:xfrm>
          <a:prstGeom prst="ellipse">
            <a:avLst/>
          </a:prstGeom>
          <a:solidFill>
            <a:srgbClr val="F7931A"/>
          </a:solidFill>
          <a:ln/>
        </p:spPr>
      </p:sp>
      <p:sp>
        <p:nvSpPr>
          <p:cNvPr id="23" name="Text 17"/>
          <p:cNvSpPr/>
          <p:nvPr/>
        </p:nvSpPr>
        <p:spPr>
          <a:xfrm>
            <a:off x="630936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6537960" y="2926080"/>
            <a:ext cx="178308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9460" y="3474720"/>
            <a:ext cx="640080" cy="6400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291072" y="480060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de vérification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 patient</a:t>
            </a:r>
            <a:endParaRPr lang="en-US" sz="105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0808" y="3639312"/>
            <a:ext cx="219456" cy="219456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8961120" y="21031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0B1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9144000" y="2286000"/>
            <a:ext cx="411480" cy="411480"/>
          </a:xfrm>
          <a:prstGeom prst="ellipse">
            <a:avLst/>
          </a:prstGeom>
          <a:solidFill>
            <a:srgbClr val="F7931A"/>
          </a:solidFill>
          <a:ln/>
        </p:spPr>
      </p:sp>
      <p:sp>
        <p:nvSpPr>
          <p:cNvPr id="30" name="Text 22"/>
          <p:cNvSpPr/>
          <p:nvPr/>
        </p:nvSpPr>
        <p:spPr>
          <a:xfrm>
            <a:off x="914400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Shape 23"/>
          <p:cNvSpPr/>
          <p:nvPr/>
        </p:nvSpPr>
        <p:spPr>
          <a:xfrm>
            <a:off x="9372600" y="2926080"/>
            <a:ext cx="178308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44100" y="3474720"/>
            <a:ext cx="640080" cy="64008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9125712" y="480060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publique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preuve</a:t>
            </a:r>
            <a:endParaRPr lang="en-US" sz="1050" dirty="0"/>
          </a:p>
        </p:txBody>
      </p:sp>
      <p:sp>
        <p:nvSpPr>
          <p:cNvPr id="34" name="Shape 25"/>
          <p:cNvSpPr/>
          <p:nvPr/>
        </p:nvSpPr>
        <p:spPr>
          <a:xfrm>
            <a:off x="457200" y="5806440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E7F6F1"/>
          </a:solidFill>
          <a:ln/>
        </p:spPr>
      </p:sp>
      <p:sp>
        <p:nvSpPr>
          <p:cNvPr id="35" name="Text 26"/>
          <p:cNvSpPr/>
          <p:nvPr/>
        </p:nvSpPr>
        <p:spPr>
          <a:xfrm>
            <a:off x="594360" y="58064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moins de 30 secondes, l'intégrité du dossier est garantie.</a:t>
            </a:r>
            <a:endParaRPr lang="en-US" sz="1300" dirty="0"/>
          </a:p>
        </p:txBody>
      </p:sp>
      <p:sp>
        <p:nvSpPr>
          <p:cNvPr id="36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MediProof — Bitcoin Mastermind 2026 Hackathon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0B1A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CLÉS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Fonctionnalités clés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703320" cy="3840480"/>
          </a:xfrm>
          <a:prstGeom prst="roundRect">
            <a:avLst>
              <a:gd name="adj" fmla="val 197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920240"/>
            <a:ext cx="548640" cy="548640"/>
          </a:xfrm>
          <a:prstGeom prst="ellipse">
            <a:avLst/>
          </a:prstGeom>
          <a:solidFill>
            <a:srgbClr val="0B1A3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9202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PROFESSIONNEL DE SANTÉ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1520" y="2697480"/>
            <a:ext cx="3154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patients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Consultations, examens, prescriptions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automatique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et traçabilité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51960" y="1691640"/>
            <a:ext cx="3703320" cy="3840480"/>
          </a:xfrm>
          <a:prstGeom prst="roundRect">
            <a:avLst>
              <a:gd name="adj" fmla="val 197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80560" y="1920240"/>
            <a:ext cx="548640" cy="548640"/>
          </a:xfrm>
          <a:prstGeom prst="ellipse">
            <a:avLst/>
          </a:prstGeom>
          <a:solidFill>
            <a:srgbClr val="0B1A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05740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66360" y="19202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26280" y="2697480"/>
            <a:ext cx="3154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sécurisé à son dossier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d'intégrité via QR Code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des certifications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d'accès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46720" y="1691640"/>
            <a:ext cx="3703320" cy="3840480"/>
          </a:xfrm>
          <a:prstGeom prst="roundRect">
            <a:avLst>
              <a:gd name="adj" fmla="val 197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75320" y="1920240"/>
            <a:ext cx="548640" cy="548640"/>
          </a:xfrm>
          <a:prstGeom prst="ellipse">
            <a:avLst/>
          </a:prstGeom>
          <a:solidFill>
            <a:srgbClr val="0B1A3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05740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61120" y="19202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ADMINISTRATEUR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321040" y="2697480"/>
            <a:ext cx="3154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utilisateurs et rôles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d'audit global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Tableaux de bord et statistiques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système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solidFill>
            <a:srgbClr val="0B1A3A"/>
          </a:solidFill>
          <a:ln/>
        </p:spPr>
      </p:sp>
      <p:sp>
        <p:nvSpPr>
          <p:cNvPr id="22" name="Text 17"/>
          <p:cNvSpPr/>
          <p:nvPr/>
        </p:nvSpPr>
        <p:spPr>
          <a:xfrm>
            <a:off x="594360" y="5852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acteur a les bons accès, au bon moment.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MediProof — Bitcoin Mastermind 2026 Hackathon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0B1A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technique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92024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33172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148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828800" y="2560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914400" y="411480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452628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4343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828800" y="4754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Cryptage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2560320" y="3291840"/>
            <a:ext cx="0" cy="822960"/>
          </a:xfrm>
          <a:prstGeom prst="line">
            <a:avLst/>
          </a:prstGeom>
          <a:noFill/>
          <a:ln w="19050">
            <a:solidFill>
              <a:srgbClr val="C7D2E8"/>
            </a:solidFill>
            <a:prstDash val="dash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3611880"/>
            <a:ext cx="182880" cy="18288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206240" y="2606040"/>
            <a:ext cx="502920" cy="0"/>
          </a:xfrm>
          <a:prstGeom prst="line">
            <a:avLst/>
          </a:prstGeom>
          <a:noFill/>
          <a:ln w="19050">
            <a:solidFill>
              <a:srgbClr val="C7D2E8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206240" y="4800600"/>
            <a:ext cx="502920" cy="0"/>
          </a:xfrm>
          <a:prstGeom prst="line">
            <a:avLst/>
          </a:prstGeom>
          <a:noFill/>
          <a:ln w="19050">
            <a:solidFill>
              <a:srgbClr val="C7D2E8"/>
            </a:solidFill>
            <a:prstDash val="dash"/>
          </a:ln>
        </p:spPr>
      </p:sp>
      <p:sp>
        <p:nvSpPr>
          <p:cNvPr id="18" name="Shape 13"/>
          <p:cNvSpPr/>
          <p:nvPr/>
        </p:nvSpPr>
        <p:spPr>
          <a:xfrm>
            <a:off x="4709160" y="192024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331720"/>
            <a:ext cx="548640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623560" y="2148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623560" y="2560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4709160" y="411480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FF3E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4526280"/>
            <a:ext cx="548640" cy="5486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623560" y="4343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TESTNET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5623560" y="4754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(OP_RETURN)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6355080" y="3291840"/>
            <a:ext cx="0" cy="822960"/>
          </a:xfrm>
          <a:prstGeom prst="line">
            <a:avLst/>
          </a:prstGeom>
          <a:noFill/>
          <a:ln w="19050">
            <a:solidFill>
              <a:srgbClr val="C7D2E8"/>
            </a:solidFill>
            <a:prstDash val="dash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611880"/>
            <a:ext cx="182880" cy="18288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8001000" y="2606040"/>
            <a:ext cx="502920" cy="0"/>
          </a:xfrm>
          <a:prstGeom prst="line">
            <a:avLst/>
          </a:prstGeom>
          <a:noFill/>
          <a:ln w="19050">
            <a:solidFill>
              <a:srgbClr val="C7D2E8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8001000" y="4800600"/>
            <a:ext cx="502920" cy="0"/>
          </a:xfrm>
          <a:prstGeom prst="line">
            <a:avLst/>
          </a:prstGeom>
          <a:noFill/>
          <a:ln w="19050">
            <a:solidFill>
              <a:srgbClr val="C7D2E8"/>
            </a:solidFill>
            <a:prstDash val="dash"/>
          </a:ln>
        </p:spPr>
      </p:sp>
      <p:sp>
        <p:nvSpPr>
          <p:cNvPr id="30" name="Shape 22"/>
          <p:cNvSpPr/>
          <p:nvPr/>
        </p:nvSpPr>
        <p:spPr>
          <a:xfrm>
            <a:off x="8503920" y="192024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2520" y="2331720"/>
            <a:ext cx="548640" cy="54864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9418320" y="2148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300" dirty="0"/>
          </a:p>
        </p:txBody>
      </p:sp>
      <p:sp>
        <p:nvSpPr>
          <p:cNvPr id="33" name="Text 24"/>
          <p:cNvSpPr/>
          <p:nvPr/>
        </p:nvSpPr>
        <p:spPr>
          <a:xfrm>
            <a:off x="9418320" y="2560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34" name="Shape 25"/>
          <p:cNvSpPr/>
          <p:nvPr/>
        </p:nvSpPr>
        <p:spPr>
          <a:xfrm>
            <a:off x="8503920" y="411480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32520" y="4526280"/>
            <a:ext cx="548640" cy="54864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9418320" y="4343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</a:t>
            </a:r>
            <a:endParaRPr lang="en-US" sz="1300" dirty="0"/>
          </a:p>
        </p:txBody>
      </p:sp>
      <p:sp>
        <p:nvSpPr>
          <p:cNvPr id="37" name="Text 27"/>
          <p:cNvSpPr/>
          <p:nvPr/>
        </p:nvSpPr>
        <p:spPr>
          <a:xfrm>
            <a:off x="9418320" y="4754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</a:t>
            </a:r>
            <a:endParaRPr lang="en-US" sz="1150" dirty="0"/>
          </a:p>
        </p:txBody>
      </p:sp>
      <p:sp>
        <p:nvSpPr>
          <p:cNvPr id="38" name="Shape 28"/>
          <p:cNvSpPr/>
          <p:nvPr/>
        </p:nvSpPr>
        <p:spPr>
          <a:xfrm>
            <a:off x="10149840" y="3291840"/>
            <a:ext cx="0" cy="822960"/>
          </a:xfrm>
          <a:prstGeom prst="line">
            <a:avLst/>
          </a:prstGeom>
          <a:noFill/>
          <a:ln w="19050">
            <a:solidFill>
              <a:srgbClr val="C7D2E8"/>
            </a:solidFill>
            <a:prstDash val="dash"/>
          </a:ln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58400" y="3611880"/>
            <a:ext cx="182880" cy="18288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MediProof — Bitcoin Mastermind 2026 Hackathon</a:t>
            </a:r>
            <a:endParaRPr lang="en-US" sz="900" dirty="0"/>
          </a:p>
        </p:txBody>
      </p:sp>
      <p:sp>
        <p:nvSpPr>
          <p:cNvPr id="41" name="Text 3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0B1A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40180" y="20116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340" y="21488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2926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HÔPITAUX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333756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 de la traçabilité et de la conformité.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19272" y="173736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02252" y="20116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412" y="214884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56432" y="2926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MÉDECINS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47872" y="333756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 renforcée dans l'intégrité des données.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81344" y="173736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64324" y="20116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484" y="214884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18504" y="2926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9944" y="333756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sur leurs données de santé. Transparence et sécurité accrues.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9043416" y="173736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0026396" y="20116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3556" y="214884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80576" y="2926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SOCIÉTÉ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9272016" y="333756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Systèmes de santé plus fiables et efficaces. Impact positif à grande échelle.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MediProof — Bitcoin Mastermind 2026 Hackathon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0B1A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ÉCONOMIQUE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 économique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383280" cy="3840480"/>
          </a:xfrm>
          <a:prstGeom prst="roundRect">
            <a:avLst>
              <a:gd name="adj" fmla="val 2162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659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965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 B2B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2560320"/>
            <a:ext cx="2834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Établissements de santé (cliniques, hôpitaux, réseaux de santé)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 mensuel par établissement.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023360" y="1737360"/>
            <a:ext cx="3611880" cy="3840480"/>
          </a:xfrm>
          <a:prstGeom prst="roundRect">
            <a:avLst>
              <a:gd name="adj" fmla="val 202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29768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INCLUS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2468880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241401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MediProof</a:t>
            </a:r>
            <a:endParaRPr lang="en-US" sz="11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971800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72000" y="291693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sur Bitcoin</a:t>
            </a:r>
            <a:endParaRPr lang="en-US" sz="11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3474720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572000" y="341985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maintenance</a:t>
            </a:r>
            <a:endParaRPr lang="en-US" sz="11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3977640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572000" y="392277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Tableaux de bord avancés</a:t>
            </a:r>
            <a:endParaRPr lang="en-US" sz="11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4480560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572000" y="442569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et rapports</a:t>
            </a:r>
            <a:endParaRPr lang="en-US" sz="1150" dirty="0"/>
          </a:p>
        </p:txBody>
      </p:sp>
      <p:sp>
        <p:nvSpPr>
          <p:cNvPr id="22" name="Shape 14"/>
          <p:cNvSpPr/>
          <p:nvPr/>
        </p:nvSpPr>
        <p:spPr>
          <a:xfrm>
            <a:off x="7909560" y="1737360"/>
            <a:ext cx="3794760" cy="3840480"/>
          </a:xfrm>
          <a:prstGeom prst="roundRect">
            <a:avLst>
              <a:gd name="adj" fmla="val 1928"/>
            </a:avLst>
          </a:prstGeom>
          <a:solidFill>
            <a:srgbClr val="FFF3E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3880" y="1965960"/>
            <a:ext cx="411480" cy="41148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8686800" y="19659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PREMIUM</a:t>
            </a:r>
            <a:endParaRPr lang="en-US" sz="1300" dirty="0"/>
          </a:p>
        </p:txBody>
      </p:sp>
      <p:sp>
        <p:nvSpPr>
          <p:cNvPr id="25" name="Text 16"/>
          <p:cNvSpPr/>
          <p:nvPr/>
        </p:nvSpPr>
        <p:spPr>
          <a:xfrm>
            <a:off x="8183880" y="256032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Intégrations sur mesure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&amp; accompagnement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supplémentaire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avancées</a:t>
            </a:r>
            <a:endParaRPr lang="en-US" sz="1150" dirty="0"/>
          </a:p>
        </p:txBody>
      </p:sp>
      <p:sp>
        <p:nvSpPr>
          <p:cNvPr id="26" name="Shape 17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solidFill>
            <a:srgbClr val="0B1A3A"/>
          </a:solidFill>
          <a:ln/>
        </p:spPr>
      </p:sp>
      <p:sp>
        <p:nvSpPr>
          <p:cNvPr id="27" name="Text 18"/>
          <p:cNvSpPr/>
          <p:nvPr/>
        </p:nvSpPr>
        <p:spPr>
          <a:xfrm>
            <a:off x="594360" y="5852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modèle scalable et durable au service de la confiance.</a:t>
            </a:r>
            <a:endParaRPr lang="en-US" sz="1300" dirty="0"/>
          </a:p>
        </p:txBody>
      </p:sp>
      <p:sp>
        <p:nvSpPr>
          <p:cNvPr id="28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MediProof — Bitcoin Mastermind 2026 Hackathon</a:t>
            </a:r>
            <a:endParaRPr lang="en-US" sz="900" dirty="0"/>
          </a:p>
        </p:txBody>
      </p:sp>
      <p:sp>
        <p:nvSpPr>
          <p:cNvPr id="29" name="Text 2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0B1A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 DE ROUTE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Feuille de route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440180" y="2103120"/>
            <a:ext cx="822960" cy="822960"/>
          </a:xfrm>
          <a:prstGeom prst="ellipse">
            <a:avLst/>
          </a:prstGeom>
          <a:solidFill>
            <a:srgbClr val="F4F6FB"/>
          </a:solidFill>
          <a:ln w="25400">
            <a:solidFill>
              <a:srgbClr val="1FA37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060" y="2286000"/>
            <a:ext cx="457200" cy="45720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2404872"/>
            <a:ext cx="27432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3063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A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40080" y="34747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MVP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40080" y="43434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en environnement réel et feedbacks utilisateurs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320540" y="2103120"/>
            <a:ext cx="822960" cy="822960"/>
          </a:xfrm>
          <a:prstGeom prst="ellipse">
            <a:avLst/>
          </a:prstGeom>
          <a:solidFill>
            <a:srgbClr val="F4F6FB"/>
          </a:solidFill>
          <a:ln w="25400">
            <a:solidFill>
              <a:srgbClr val="7B3FA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420" y="2286000"/>
            <a:ext cx="457200" cy="457200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404872"/>
            <a:ext cx="27432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429000" y="3063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3520440" y="34747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Pilotes dans des établissements de santé partenaires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7200900" y="2103120"/>
            <a:ext cx="822960" cy="822960"/>
          </a:xfrm>
          <a:prstGeom prst="ellipse">
            <a:avLst/>
          </a:prstGeom>
          <a:solidFill>
            <a:srgbClr val="F4F6FB"/>
          </a:solidFill>
          <a:ln w="25400">
            <a:solidFill>
              <a:srgbClr val="0E7C9C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3780" y="2286000"/>
            <a:ext cx="457200" cy="457200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0" y="2404872"/>
            <a:ext cx="274320" cy="2286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309360" y="3063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400" dirty="0"/>
          </a:p>
        </p:txBody>
      </p:sp>
      <p:sp>
        <p:nvSpPr>
          <p:cNvPr id="21" name="Text 13"/>
          <p:cNvSpPr/>
          <p:nvPr/>
        </p:nvSpPr>
        <p:spPr>
          <a:xfrm>
            <a:off x="6400800" y="34747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à grande échelle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6400800" y="43434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améliorations fonctionnelles</a:t>
            </a:r>
            <a:endParaRPr lang="en-US" sz="1000" dirty="0"/>
          </a:p>
        </p:txBody>
      </p:sp>
      <p:sp>
        <p:nvSpPr>
          <p:cNvPr id="23" name="Shape 15"/>
          <p:cNvSpPr/>
          <p:nvPr/>
        </p:nvSpPr>
        <p:spPr>
          <a:xfrm>
            <a:off x="10081260" y="2103120"/>
            <a:ext cx="822960" cy="822960"/>
          </a:xfrm>
          <a:prstGeom prst="ellipse">
            <a:avLst/>
          </a:prstGeom>
          <a:solidFill>
            <a:srgbClr val="F4F6FB"/>
          </a:solidFill>
          <a:ln w="25400">
            <a:solidFill>
              <a:srgbClr val="F7931A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4140" y="2286000"/>
            <a:ext cx="457200" cy="4572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189720" y="3063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2026+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9281160" y="34747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Nouvelles intégrations et services avancés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9281160" y="43434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(Intelligence Artificielle, Analytics, etc.)</a:t>
            </a:r>
            <a:endParaRPr lang="en-US" sz="1000" dirty="0"/>
          </a:p>
        </p:txBody>
      </p:sp>
      <p:sp>
        <p:nvSpPr>
          <p:cNvPr id="28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MediProof — Bitcoin Mastermind 2026 Hackathon</a:t>
            </a:r>
            <a:endParaRPr lang="en-US" sz="900" dirty="0"/>
          </a:p>
        </p:txBody>
      </p:sp>
      <p:sp>
        <p:nvSpPr>
          <p:cNvPr id="29" name="Text 2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1097280"/>
            <a:ext cx="5486400" cy="5486400"/>
          </a:xfrm>
          <a:prstGeom prst="ellipse">
            <a:avLst/>
          </a:prstGeom>
          <a:solidFill>
            <a:srgbClr val="13265C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2194560"/>
            <a:ext cx="3291840" cy="3291840"/>
          </a:xfrm>
          <a:prstGeom prst="ellipse">
            <a:avLst/>
          </a:prstGeom>
          <a:solidFill>
            <a:srgbClr val="1B3A7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743200"/>
            <a:ext cx="1920240" cy="1920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921240" y="324612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429000"/>
            <a:ext cx="548640" cy="54864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4206240"/>
            <a:ext cx="822960" cy="8229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640" y="118872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!</a:t>
            </a:r>
            <a:endParaRPr lang="en-US" sz="4600" dirty="0"/>
          </a:p>
        </p:txBody>
      </p:sp>
      <p:sp>
        <p:nvSpPr>
          <p:cNvPr id="9" name="Text 4"/>
          <p:cNvSpPr/>
          <p:nvPr/>
        </p:nvSpPr>
        <p:spPr>
          <a:xfrm>
            <a:off x="548640" y="21488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 que la confiance dans les données médicales peut sauver des vies.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548640" y="3200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</a:t>
            </a:r>
            <a:pPr indent="0" marL="0">
              <a:buNone/>
            </a:pPr>
            <a:r>
              <a:rPr lang="en-US" sz="24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548640" y="3703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records you can trust. Powered by Bitcoin.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120640"/>
            <a:ext cx="320040" cy="3200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0120" y="5074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MediProof - Securing Medical Trust with Bitcoin</dc:title>
  <dc:subject>PptxGenJS Presentation</dc:subject>
  <dc:creator>Documentation Projet MediProof</dc:creator>
  <cp:lastModifiedBy>Documentation Projet MediProof</cp:lastModifiedBy>
  <cp:revision>1</cp:revision>
  <dcterms:created xsi:type="dcterms:W3CDTF">2026-06-30T13:37:53Z</dcterms:created>
  <dcterms:modified xsi:type="dcterms:W3CDTF">2026-06-30T13:37:53Z</dcterms:modified>
</cp:coreProperties>
</file>